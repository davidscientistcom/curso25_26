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</p:sldIdLst>
  <p:sldSz cy="6858000" cx="12192000"/>
  <p:notesSz cx="6858000" cy="9144000"/>
  <p:embeddedFontLst>
    <p:embeddedFont>
      <p:font typeface="Play"/>
      <p:regular r:id="rId51"/>
      <p:bold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3" roundtripDataSignature="AMtx7mj+a7nm8SnSGQGBAqT3MFMm6Ibn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Play-regular.fntdata"/><Relationship Id="rId50" Type="http://schemas.openxmlformats.org/officeDocument/2006/relationships/slide" Target="slides/slide46.xml"/><Relationship Id="rId53" Type="http://customschemas.google.com/relationships/presentationmetadata" Target="metadata"/><Relationship Id="rId52" Type="http://schemas.openxmlformats.org/officeDocument/2006/relationships/font" Target="fonts/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5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5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5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5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UD 2:</a:t>
            </a:r>
            <a:br>
              <a:rPr lang="en-US"/>
            </a:br>
            <a:r>
              <a:rPr lang="en-US"/>
              <a:t>Tecnologías Habilitadoras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Digitalización Aplicada Al Sistema Productivo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1524000" y="2875982"/>
            <a:ext cx="9144000" cy="10991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Introducción​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¿Qué son?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Las Tecnologías Habilitadoras Digitales (THD) son un </a:t>
            </a:r>
            <a:r>
              <a:rPr b="1" lang="en-US"/>
              <a:t>conjunto de innovaciones tecnológicas transversales</a:t>
            </a:r>
            <a:r>
              <a:rPr lang="en-US"/>
              <a:t> que actúan como catalizadores de la transformación digital en todos los sectores productivos . Se caracterizan por su alto potencial disruptivo e impacto, ya que permiten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Optimizar procesos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Mejorar la eficiencia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Fomentar nuevos modelos de negocio más conectados y automatizados.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¿Qué aportan?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las THD proporcionan herramientas y sistemas que </a:t>
            </a:r>
            <a:r>
              <a:rPr b="1" lang="en-US"/>
              <a:t>impulsan la innovación</a:t>
            </a:r>
            <a:r>
              <a:rPr lang="en-US"/>
              <a:t> y aumentan la </a:t>
            </a:r>
            <a:r>
              <a:rPr b="1" lang="en-US"/>
              <a:t>competitividad</a:t>
            </a:r>
            <a:r>
              <a:rPr lang="en-US"/>
              <a:t>, al tiempo que sirven de base para desarrollar soluciones digitales en muy diversos ámbitos (industria, salud, educación, transporte, etc.).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¿Qué son?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Aumentan la </a:t>
            </a:r>
            <a:r>
              <a:rPr b="1" lang="en-US"/>
              <a:t>eficiencia</a:t>
            </a:r>
            <a:r>
              <a:rPr lang="en-US"/>
              <a:t> de procesos.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Mejoran la </a:t>
            </a:r>
            <a:r>
              <a:rPr b="1" lang="en-US"/>
              <a:t>competitividad</a:t>
            </a:r>
            <a:r>
              <a:rPr lang="en-US"/>
              <a:t> de las empresas.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Generan </a:t>
            </a:r>
            <a:r>
              <a:rPr b="1" lang="en-US"/>
              <a:t>empleo</a:t>
            </a:r>
            <a:r>
              <a:rPr lang="en-US"/>
              <a:t> y </a:t>
            </a:r>
            <a:r>
              <a:rPr b="1" lang="en-US"/>
              <a:t>valor añadido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Impulsan la </a:t>
            </a:r>
            <a:r>
              <a:rPr b="1" lang="en-US"/>
              <a:t>creatividad</a:t>
            </a:r>
            <a:r>
              <a:rPr lang="en-US"/>
              <a:t> y los </a:t>
            </a:r>
            <a:r>
              <a:rPr b="1" lang="en-US"/>
              <a:t>nuevos modelos de negocio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Son </a:t>
            </a:r>
            <a:r>
              <a:rPr b="1" lang="en-US"/>
              <a:t>transversales</a:t>
            </a:r>
            <a:r>
              <a:rPr lang="en-US"/>
              <a:t>: afectan a salud, turismo, educación, transporte, cultura…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 </a:t>
            </a:r>
            <a:r>
              <a:rPr b="1" lang="en-US"/>
              <a:t>Idea clave</a:t>
            </a:r>
            <a:r>
              <a:rPr lang="en-US"/>
              <a:t>: Las THD no son un lujo, son un motor de progreso económico y social.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Las revoluciones industriales</a:t>
            </a:r>
            <a:endParaRPr/>
          </a:p>
        </p:txBody>
      </p:sp>
      <p:pic>
        <p:nvPicPr>
          <p:cNvPr descr="Imagen que contiene Escala de tiempo&#10;&#10;El contenido generado por IA puede ser incorrecto." id="114" name="Google Shape;114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0801" y="2204663"/>
            <a:ext cx="7584775" cy="3837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La quinta revolución industrial</a:t>
            </a:r>
            <a:endParaRPr/>
          </a:p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Definición</a:t>
            </a:r>
            <a:r>
              <a:rPr lang="en-US"/>
              <a:t>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Es la etapa actual de la evolución industrial, caracterizada por el </a:t>
            </a:r>
            <a:r>
              <a:rPr b="1" lang="en-US"/>
              <a:t>uso intensivo de Tecnologías Habilitadoras Digitales (THD)</a:t>
            </a:r>
            <a:r>
              <a:rPr lang="en-US"/>
              <a:t> para devolver al ser humano un papel central en el proceso productivo.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Aportaciones clave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Colaboración humano-máquina</a:t>
            </a:r>
            <a:r>
              <a:rPr lang="en-US"/>
              <a:t>: integración de </a:t>
            </a:r>
            <a:r>
              <a:rPr b="1" lang="en-US"/>
              <a:t>robots colaborativos (cobots)</a:t>
            </a:r>
            <a:r>
              <a:rPr lang="en-US"/>
              <a:t> y sistemas inteligentes que trabajan junto a las personas.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Personalización masiva</a:t>
            </a:r>
            <a:r>
              <a:rPr lang="en-US"/>
              <a:t>: productos y servicios adaptados a las necesidades del cliente (gracias a IA, Big Data, impresión 3D).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Sostenibilidad</a:t>
            </a:r>
            <a:r>
              <a:rPr lang="en-US"/>
              <a:t>: compromiso con la </a:t>
            </a:r>
            <a:r>
              <a:rPr b="1" lang="en-US"/>
              <a:t>economía circular</a:t>
            </a:r>
            <a:r>
              <a:rPr lang="en-US"/>
              <a:t> y la reducción del impacto ambiental.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Bienestar del trabajador</a:t>
            </a:r>
            <a:r>
              <a:rPr lang="en-US"/>
              <a:t>: automatización de tareas repetitivas y peligrosas para que las personas se centren en la creatividad, innovación y toma de decisiones.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Nuevos modelos de negocio</a:t>
            </a:r>
            <a:r>
              <a:rPr lang="en-US"/>
              <a:t>: integración de IoT, Blockchain, RA/RV y nube para crear ecosistemas digitales más flexibles y transparentes.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Idea central</a:t>
            </a:r>
            <a:r>
              <a:rPr lang="en-US"/>
              <a:t>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La Industria 5.0 </a:t>
            </a:r>
            <a:r>
              <a:rPr b="1" lang="en-US"/>
              <a:t>no busca sustituir al trabajador por la máquina</a:t>
            </a:r>
            <a:r>
              <a:rPr lang="en-US"/>
              <a:t>, sino que </a:t>
            </a:r>
            <a:r>
              <a:rPr b="1" lang="en-US"/>
              <a:t>los complementa</a:t>
            </a:r>
            <a:r>
              <a:rPr lang="en-US"/>
              <a:t>, generando entornos de trabajo más humanos, inteligentes y sostenibles.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¿Cómo lo conseguiremos?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IoT</a:t>
            </a:r>
            <a:r>
              <a:rPr lang="en-US"/>
              <a:t> y aplicaciones en todos los sectores.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Redes 5G</a:t>
            </a:r>
            <a:r>
              <a:rPr lang="en-US"/>
              <a:t> → conectividad ultrarrápida y fiable.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Computación en la nube</a:t>
            </a:r>
            <a:r>
              <a:rPr lang="en-US"/>
              <a:t> → aplicaciones seguras y escalables.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Big Data / Open Data</a:t>
            </a:r>
            <a:r>
              <a:rPr lang="en-US"/>
              <a:t> → transformar datos en conocimiento.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HPC (supercomputación)</a:t>
            </a:r>
            <a:r>
              <a:rPr lang="en-US"/>
              <a:t> → procesar volúmenes masivos de datos.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Procesamiento de lenguaje natural</a:t>
            </a:r>
            <a:r>
              <a:rPr lang="en-US"/>
              <a:t> (IA).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Ciberseguridad, biometría e identidad digital</a:t>
            </a:r>
            <a:r>
              <a:rPr lang="en-US"/>
              <a:t> → proteger a ciudadanos e industrias.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b="1" lang="en-US" sz="3600"/>
              <a:t>​Ámbitos de aplicación</a:t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Turismo</a:t>
            </a:r>
            <a:r>
              <a:rPr lang="en-US"/>
              <a:t>: apps móviles, realidad inmersiva, experiencias personalizadas.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Cultura</a:t>
            </a:r>
            <a:r>
              <a:rPr lang="en-US"/>
              <a:t>: digitalización del patrimonio, entornos virtuales.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Medioambiente</a:t>
            </a:r>
            <a:r>
              <a:rPr lang="en-US"/>
              <a:t>: gestión de residuos, eficiencia energética, economía circular.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Movilidad</a:t>
            </a:r>
            <a:r>
              <a:rPr lang="en-US"/>
              <a:t>: transporte inteligente y sostenible.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Salud</a:t>
            </a:r>
            <a:r>
              <a:rPr lang="en-US"/>
              <a:t>: medicina personalizada, gestión de sistemas sanitarios.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Conclusión</a:t>
            </a:r>
            <a:endParaRPr/>
          </a:p>
        </p:txBody>
      </p:sp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Las THD no solo mejoran </a:t>
            </a:r>
            <a:r>
              <a:rPr b="1" lang="en-US"/>
              <a:t>productos y servicios</a:t>
            </a:r>
            <a:r>
              <a:rPr lang="en-US"/>
              <a:t>, sino que: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lang="en-US"/>
              <a:t>Transforman sectores completos</a:t>
            </a:r>
            <a:r>
              <a:rPr lang="en-US"/>
              <a:t>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-US"/>
              <a:t>Responden a </a:t>
            </a:r>
            <a:r>
              <a:rPr b="1" lang="en-US"/>
              <a:t>retos globales</a:t>
            </a:r>
            <a:r>
              <a:rPr lang="en-US"/>
              <a:t> (cambio climático, sostenibilidad, salud).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-US"/>
              <a:t>Dan a los profesionales de informática un papel </a:t>
            </a:r>
            <a:r>
              <a:rPr b="1" lang="en-US"/>
              <a:t>clave en la sociedad digital</a:t>
            </a:r>
            <a:r>
              <a:rPr lang="en-US"/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ctrTitle"/>
          </p:nvPr>
        </p:nvSpPr>
        <p:spPr>
          <a:xfrm>
            <a:off x="1524000" y="2530702"/>
            <a:ext cx="9144000" cy="17956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Principales Tecnologías Habilitadoras Digitales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Las Tecnologías Habilitadoras Digitales (THD)</a:t>
            </a:r>
            <a:endParaRPr/>
          </a:p>
        </p:txBody>
      </p:sp>
      <p:sp>
        <p:nvSpPr>
          <p:cNvPr id="149" name="Google Shape;14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Definición:</a:t>
            </a:r>
            <a:r>
              <a:rPr lang="en-US"/>
              <a:t> Un conjunto de herramientas tecnológicas que actúan como catalizadores para la transformación hacia la sostenibilidad.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Componentes Clave:</a:t>
            </a:r>
            <a:r>
              <a:rPr lang="en-US"/>
              <a:t> Internet de las Cosas (IoT), Big Data, Inteligencia Artificial, blockchain, robótica, fabricación aditiva y gemelos digitales.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Su Rol:</a:t>
            </a:r>
            <a:r>
              <a:rPr lang="en-US"/>
              <a:t> Optimizan procesos, conectan sistemas y personas, y facilitan nuevos modelos de negocio más eficientes.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La Conexión en Tiempo Real</a:t>
            </a:r>
            <a:endParaRPr/>
          </a:p>
        </p:txBody>
      </p:sp>
      <p:sp>
        <p:nvSpPr>
          <p:cNvPr id="155" name="Google Shape;155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Concepto:</a:t>
            </a:r>
            <a:r>
              <a:rPr lang="en-US"/>
              <a:t> La interconexión de objetos físicos con internet a través de sensores y software.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Su Función en Sostenibilidad:</a:t>
            </a:r>
            <a:r>
              <a:rPr lang="en-US"/>
              <a:t> Permite la recopilación de datos en tiempo real para una gestión más inteligente y predictiva.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Aplicación 1: Mantenimiento Predictivo: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Sensores en maquinaria industrial detectan vibraciones o temperaturas anómalas.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El sistema notifica al equipo de mantenimiento para programar una reparación antes de que se produzca una avería.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lang="en-US"/>
              <a:t>Beneficio:</a:t>
            </a:r>
            <a:r>
              <a:rPr lang="en-US"/>
              <a:t> Extiende la vida útil de los equipos y reduce el desperdicio de componentes.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Aplicación 2: Gestión Inteligente de Recursos: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Sensores de humedad en la agricultura optimizan el riego, ahorrando miles de litros de agua.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Sensores de calidad del aire y tráfico en ciudades optimizan la gestión de residuos y el transporte público.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Big Data e IA: La Inteligencia de los Datos</a:t>
            </a:r>
            <a:endParaRPr/>
          </a:p>
        </p:txBody>
      </p:sp>
      <p:sp>
        <p:nvSpPr>
          <p:cNvPr id="161" name="Google Shape;16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Big Data:</a:t>
            </a:r>
            <a:r>
              <a:rPr lang="en-US"/>
              <a:t> Se refiere al análisis de grandes volúmenes de datos para encontrar patrones y tendencias ocultas.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Inteligencia Artificial (IA):</a:t>
            </a:r>
            <a:r>
              <a:rPr lang="en-US"/>
              <a:t> Permite a los sistemas aprender de esos datos para tomar decisiones autónomas y optimizar procesos complejos.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Aplicación 1: Optimización de la Producción: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La IA analiza datos de la demanda y del mercado para predecir la necesidad de productos, evitando la sobreproducción y el desperdicio.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Aplicación 2: Ecodiseño y Eficiencia: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La IA generativa puede proponer diseños de productos más ligeros o con menos material para reducir la huella ambiental.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Los algoritmos de IA optimizan el consumo de energía en edificios o centros de datos, ajustando la climatización en tiempo real.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Gemelos Digitales y Simulación</a:t>
            </a:r>
            <a:endParaRPr/>
          </a:p>
        </p:txBody>
      </p:sp>
      <p:sp>
        <p:nvSpPr>
          <p:cNvPr id="167" name="Google Shape;16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Concepto:</a:t>
            </a:r>
            <a:r>
              <a:rPr lang="en-US"/>
              <a:t> Una réplica virtual y dinámica de un objeto o proceso físico. Se actualiza con datos del mundo real para simular su comportamiento.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Aplicación 1: Diseño y Prototipado: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Permite probar cambios en el diseño o mejoras en un entorno virtual sin necesidad de construir prototipos físicos.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lang="en-US"/>
              <a:t>Beneficio:</a:t>
            </a:r>
            <a:r>
              <a:rPr lang="en-US"/>
              <a:t> Reduce el consumo de materiales y energía en la fase de desarrollo.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Aplicación 2: Optimización de Operaciones: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Simulan el rendimiento de una planta de fabricación para identificar cuellos de botella y mejorar la eficiencia de la producción.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Ayudan a modelar la logística de recolección de residuos para maximizar la recuperación de materiales.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Blockchain: Confianza y Trazabilidad</a:t>
            </a:r>
            <a:endParaRPr/>
          </a:p>
        </p:txBody>
      </p:sp>
      <p:sp>
        <p:nvSpPr>
          <p:cNvPr id="173" name="Google Shape;173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Concepto:</a:t>
            </a:r>
            <a:r>
              <a:rPr lang="en-US"/>
              <a:t> Una tecnología de registro distribuido, segura e inmutable, que crea un historial transparente de transacciones.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Aplicación 1: Trazabilidad en la Cadena de Suministro: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Permite registrar cada paso de un producto: desde el origen de la materia prima hasta su venta y posterior reciclaje.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Garantiza el origen ético y sostenible de los materiales.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Aplicación 2: Verificación de Datos: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La información de sensores (ej. calidad del aire, procedencia) se registra en la cadena de bloques, evitando manipulaciones.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Ejemplo Real: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lang="en-US"/>
              <a:t>Plásticos circulares:</a:t>
            </a:r>
            <a:r>
              <a:rPr lang="en-US"/>
              <a:t> Covestro y Porsche usan blockchain para rastrear plásticos reciclados y demostrar su reutilización en vehículos nuevos.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lang="en-US"/>
              <a:t>Trabajo justo:</a:t>
            </a:r>
            <a:r>
              <a:rPr lang="en-US"/>
              <a:t> Coca-Cola utiliza blockchain para registrar el trabajo de recolectores de residuos y asegurar un pago justo.</a:t>
            </a:r>
            <a:endParaRPr/>
          </a:p>
          <a:p>
            <a:pPr indent="-7747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Robótica y Automatización</a:t>
            </a:r>
            <a:endParaRPr/>
          </a:p>
        </p:txBody>
      </p:sp>
      <p:sp>
        <p:nvSpPr>
          <p:cNvPr id="179" name="Google Shape;17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Concepto:</a:t>
            </a:r>
            <a:r>
              <a:rPr lang="en-US"/>
              <a:t> Robots colaborativos (cobots) y autónomos que trabajan de forma eficiente y segura.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Aplicación 1: Mayor Eficiencia en la Producción: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-US"/>
              <a:t>Los robots industriales aumentan la precisión, lo que se traduce en menos desperdicio de material y menos consumo de energía por unidad producida.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Aplicación 2: Reciclaje Avanzado: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lang="en-US"/>
              <a:t>Robots equipados con visión artificial pueden identificar y separar materiales reciclables a gran velocidad y con mayor precisión que los humanos.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</a:pPr>
            <a:r>
              <a:rPr b="1" lang="en-US"/>
              <a:t>Beneficio:</a:t>
            </a:r>
            <a:r>
              <a:rPr lang="en-US"/>
              <a:t> Incrementa la tasa de recuperación de materiales valiosos.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Fabricación Aditiva (Impresión 3D)</a:t>
            </a:r>
            <a:endParaRPr/>
          </a:p>
        </p:txBody>
      </p:sp>
      <p:sp>
        <p:nvSpPr>
          <p:cNvPr id="185" name="Google Shape;185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Concepto:</a:t>
            </a:r>
            <a:r>
              <a:rPr lang="en-US"/>
              <a:t> Creación de objetos capa por capa, en contraste con los métodos tradicionales que sustraen material.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Ventajas Clave: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lang="en-US"/>
              <a:t>Minimización de Residuos:</a:t>
            </a:r>
            <a:r>
              <a:rPr lang="en-US"/>
              <a:t> Solo se usa el material necesario, eliminando la chatarra y los recortes.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lang="en-US"/>
              <a:t>Piezas Optimizadas:</a:t>
            </a:r>
            <a:r>
              <a:rPr lang="en-US"/>
              <a:t> Permite crear componentes ligeros y con geometrías complejas que usan menos material manteniendo la misma funcionalidad.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lang="en-US"/>
              <a:t>Producción Localizada:</a:t>
            </a:r>
            <a:r>
              <a:rPr lang="en-US"/>
              <a:t> Se pueden fabricar piezas bajo demanda y en el lugar de uso, reduciendo la necesidad de grandes inventarios y el transporte.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lang="en-US"/>
              <a:t>Extensión de la Vida Útil:</a:t>
            </a:r>
            <a:r>
              <a:rPr lang="en-US"/>
              <a:t> Facilita la impresión de piezas de repuesto para equipos que ya no se fabrican.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La Sinergia de las THD y Conclusiones</a:t>
            </a:r>
            <a:endParaRPr/>
          </a:p>
        </p:txBody>
      </p:sp>
      <p:sp>
        <p:nvSpPr>
          <p:cNvPr id="191" name="Google Shape;19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El Ecosistema Interconectado:</a:t>
            </a:r>
            <a:r>
              <a:rPr lang="en-US"/>
              <a:t> Las THD no funcionan de forma aislada, sino que se complementan.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El </a:t>
            </a:r>
            <a:r>
              <a:rPr b="1" lang="en-US"/>
              <a:t>IoT</a:t>
            </a:r>
            <a:r>
              <a:rPr lang="en-US"/>
              <a:t> recolecta datos.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lang="en-US"/>
              <a:t>Big Data e IA</a:t>
            </a:r>
            <a:r>
              <a:rPr lang="en-US"/>
              <a:t> los analizan para tomar decisiones.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Los </a:t>
            </a:r>
            <a:r>
              <a:rPr b="1" lang="en-US"/>
              <a:t>Gemelos Digitales</a:t>
            </a:r>
            <a:r>
              <a:rPr lang="en-US"/>
              <a:t> simulan el impacto de esas decisiones.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El </a:t>
            </a:r>
            <a:r>
              <a:rPr b="1" lang="en-US"/>
              <a:t>Blockchain</a:t>
            </a:r>
            <a:r>
              <a:rPr lang="en-US"/>
              <a:t> garantiza la trazabilidad y la confianza.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La </a:t>
            </a:r>
            <a:r>
              <a:rPr b="1" lang="en-US"/>
              <a:t>Robótica</a:t>
            </a:r>
            <a:r>
              <a:rPr lang="en-US"/>
              <a:t> y la </a:t>
            </a:r>
            <a:r>
              <a:rPr b="1" lang="en-US"/>
              <a:t>Fabricación Aditiva</a:t>
            </a:r>
            <a:r>
              <a:rPr lang="en-US"/>
              <a:t> optimizan la producción y el reciclaje.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Conclusión:</a:t>
            </a:r>
            <a:r>
              <a:rPr lang="en-US"/>
              <a:t> Esta sinergia es fundamental para transformar el diseño, la fabricación, la logística y la gestión de residuos. Las THD no son solo una mejora, sino la </a:t>
            </a:r>
            <a:r>
              <a:rPr b="1" lang="en-US"/>
              <a:t>infraestructura digital</a:t>
            </a:r>
            <a:r>
              <a:rPr lang="en-US"/>
              <a:t> que hace posible la transición a una economía circular y sostenible a gran escala.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A tener en cuenta...</a:t>
            </a:r>
            <a:endParaRPr/>
          </a:p>
        </p:txBody>
      </p:sp>
      <p:sp>
        <p:nvSpPr>
          <p:cNvPr id="197" name="Google Shape;19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En nuestra profesión las cosas evolucionan muy muy rápidamente.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Tenemos que estar continuamente  pendiente. Algo que es disruptivo y puntero hoy es algo común hoy en día. ¿Quién no usa un teléfono movil?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Los elementos explicados son escalones, no el destino definitivo. El dominio de ellos hace que aparezcan nuevas tecnologías, formas de pensar...NECESIDADES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type="ctrTitle"/>
          </p:nvPr>
        </p:nvSpPr>
        <p:spPr>
          <a:xfrm>
            <a:off x="1524000" y="2977185"/>
            <a:ext cx="9144000" cy="8967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Sistemas económicos​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b="1" lang="en-US" sz="4000"/>
              <a:t>Economía de subsistencia (antes del s. XVIII)</a:t>
            </a:r>
            <a:endParaRPr sz="4000"/>
          </a:p>
        </p:txBody>
      </p:sp>
      <p:sp>
        <p:nvSpPr>
          <p:cNvPr id="208" name="Google Shape;208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Producción manual y agrícola.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Autoconsumo, poco comercio.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No existía aún un modelo industrial global.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3"/>
          <p:cNvSpPr txBox="1"/>
          <p:nvPr>
            <p:ph type="title"/>
          </p:nvPr>
        </p:nvSpPr>
        <p:spPr>
          <a:xfrm>
            <a:off x="411480" y="991443"/>
            <a:ext cx="4443154" cy="1087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</a:pPr>
            <a:r>
              <a:rPr b="1" lang="en-US" sz="3400"/>
              <a:t>Economía lineal (s. XVIII – finales del XX)</a:t>
            </a:r>
            <a:endParaRPr sz="3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</a:pPr>
            <a:r>
              <a:t/>
            </a:r>
            <a:endParaRPr sz="3400"/>
          </a:p>
        </p:txBody>
      </p:sp>
      <p:sp>
        <p:nvSpPr>
          <p:cNvPr id="215" name="Google Shape;215;p23"/>
          <p:cNvSpPr/>
          <p:nvPr/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411480" y="2684095"/>
            <a:ext cx="4443154" cy="3492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Nace con la </a:t>
            </a:r>
            <a:r>
              <a:rPr b="1" lang="en-US" sz="1800"/>
              <a:t>Revolución Industrial (Industria 1.0 → 4.0)</a:t>
            </a:r>
            <a:r>
              <a:rPr lang="en-US" sz="1800"/>
              <a:t>.</a:t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Modelo: </a:t>
            </a:r>
            <a:r>
              <a:rPr b="1" lang="en-US" sz="1800"/>
              <a:t>“Extraer → Producir → Usar → Tirar”</a:t>
            </a:r>
            <a:r>
              <a:rPr lang="en-US" sz="18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Basada en el </a:t>
            </a:r>
            <a:r>
              <a:rPr b="1" lang="en-US" sz="1800"/>
              <a:t>consumo intensivo de recursos y energía fósil</a:t>
            </a:r>
            <a:r>
              <a:rPr lang="en-US" sz="18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Consecuencia: crecimiento económico rápido, pero gran </a:t>
            </a:r>
            <a:r>
              <a:rPr b="1" lang="en-US" sz="1800"/>
              <a:t>impacto ambiental</a:t>
            </a:r>
            <a:r>
              <a:rPr lang="en-US" sz="1800"/>
              <a:t>.</a:t>
            </a:r>
            <a:endParaRPr/>
          </a:p>
          <a:p>
            <a:pPr indent="-1143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descr="Imagen que contiene Escala de tiempo&#10;&#10;El contenido generado por IA puede ser incorrecto." id="218" name="Google Shape;21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5816" y="1775116"/>
            <a:ext cx="6440424" cy="32524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411480" y="991443"/>
            <a:ext cx="4443154" cy="1087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b="1" lang="en-US" sz="2900"/>
              <a:t> Economía circular (finales s. XX – actualidad)</a:t>
            </a:r>
            <a:endParaRPr sz="29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t/>
            </a:r>
            <a:endParaRPr sz="2900"/>
          </a:p>
        </p:txBody>
      </p:sp>
      <p:sp>
        <p:nvSpPr>
          <p:cNvPr id="225" name="Google Shape;225;p24"/>
          <p:cNvSpPr/>
          <p:nvPr/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4"/>
          <p:cNvSpPr/>
          <p:nvPr/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 txBox="1"/>
          <p:nvPr>
            <p:ph idx="1" type="body"/>
          </p:nvPr>
        </p:nvSpPr>
        <p:spPr>
          <a:xfrm>
            <a:off x="411480" y="2684095"/>
            <a:ext cx="4443154" cy="34928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Surge como </a:t>
            </a:r>
            <a:r>
              <a:rPr b="1" lang="en-US" sz="1800"/>
              <a:t>respuesta a la crisis ambiental y de recursos</a:t>
            </a:r>
            <a:r>
              <a:rPr lang="en-US" sz="1800"/>
              <a:t>.</a:t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Busca </a:t>
            </a:r>
            <a:r>
              <a:rPr b="1" lang="en-US" sz="1800"/>
              <a:t>cerrar el ciclo de los productos</a:t>
            </a:r>
            <a:r>
              <a:rPr lang="en-US" sz="1800"/>
              <a:t>: reutilizar, reparar, reciclar.</a:t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Promovida por la </a:t>
            </a:r>
            <a:r>
              <a:rPr b="1" lang="en-US" sz="1800"/>
              <a:t>UE desde 2015</a:t>
            </a:r>
            <a:r>
              <a:rPr lang="en-US" sz="1800"/>
              <a:t> como estrategia de sostenibilidad.</a:t>
            </a:r>
            <a:endParaRPr sz="18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Encaja con </a:t>
            </a:r>
            <a:r>
              <a:rPr b="1" lang="en-US" sz="1800"/>
              <a:t>Industria 5.0</a:t>
            </a:r>
            <a:r>
              <a:rPr lang="en-US" sz="1800"/>
              <a:t>, donde el humano y la sostenibilidad son el centro.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descr="Diagrama&#10;&#10;El contenido generado por IA puede ser incorrecto."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5816" y="712446"/>
            <a:ext cx="6440424" cy="5377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El Contexto: De la Economía Lineal a la Circular</a:t>
            </a:r>
            <a:endParaRPr sz="4000"/>
          </a:p>
        </p:txBody>
      </p:sp>
      <p:sp>
        <p:nvSpPr>
          <p:cNvPr id="234" name="Google Shape;234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Economía Lineal (Modelo Tradicional):</a:t>
            </a:r>
            <a:r>
              <a:rPr lang="en-US"/>
              <a:t> Un modelo industrial de "tomar, hacer y desechar".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lang="en-US"/>
              <a:t>Proceso:</a:t>
            </a:r>
            <a:r>
              <a:rPr lang="en-US"/>
              <a:t> Extraer materias primas → Producir bienes → Usar → Desechar.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lang="en-US"/>
              <a:t>Características:</a:t>
            </a:r>
            <a:r>
              <a:rPr lang="en-US"/>
              <a:t> Prioriza el beneficio económico a corto plazo, ignora la sostenibilidad y la escasez de recursos a largo plazo.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Economía Circular (Modelo Sostenible):</a:t>
            </a:r>
            <a:r>
              <a:rPr lang="en-US"/>
              <a:t> Un sistema regenerativo por diseño.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lang="en-US"/>
              <a:t>Objetivo:</a:t>
            </a:r>
            <a:r>
              <a:rPr lang="en-US"/>
              <a:t> Mantener productos, componentes y materiales en su máximo valor y utilidad.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lang="en-US"/>
              <a:t>Principios:</a:t>
            </a:r>
            <a:r>
              <a:rPr lang="en-US"/>
              <a:t> Reducir, Reutilizar y Reciclar.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b="1" lang="en-US"/>
              <a:t>Beneficios:</a:t>
            </a:r>
            <a:r>
              <a:rPr lang="en-US"/>
              <a:t> Aumenta la competitividad, genera innovación y nuevos empleos "verdes".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¿Qué es un modelo de negocio sostenible?</a:t>
            </a:r>
            <a:endParaRPr/>
          </a:p>
        </p:txBody>
      </p:sp>
      <p:sp>
        <p:nvSpPr>
          <p:cNvPr id="240" name="Google Shape;240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Es una forma de organizar una empresa pensando no solo en el beneficio, sino en: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Reducir el impacto ambiental.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Usar menos recursos.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Reutilizar y reciclar.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Apostar por la innovación y la eficiencia.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b="1" lang="en-US" sz="3600"/>
              <a:t> Relación entre sostenibilidad y economía circular</a:t>
            </a:r>
            <a:endParaRPr sz="2800"/>
          </a:p>
        </p:txBody>
      </p:sp>
      <p:sp>
        <p:nvSpPr>
          <p:cNvPr id="246" name="Google Shape;246;p2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Un negocio sostenible debe:</a:t>
            </a:r>
            <a:endParaRPr sz="36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Diseñar productos que duren más.</a:t>
            </a:r>
            <a:endParaRPr sz="3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Ofrecer servicios que eviten tirar cosas.</a:t>
            </a:r>
            <a:endParaRPr sz="3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Reparar, reutilizar y reciclar.</a:t>
            </a:r>
            <a:endParaRPr sz="32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 Extensión de la vida del producto (clave)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pic>
        <p:nvPicPr>
          <p:cNvPr descr="A screenshot of a computer&#10;&#10;AI-generated content may be incorrect." id="252" name="Google Shape;252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9642" y="1811532"/>
            <a:ext cx="8552730" cy="3231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Tipos de modelos sostenibles.</a:t>
            </a:r>
            <a:endParaRPr/>
          </a:p>
        </p:txBody>
      </p:sp>
      <p:pic>
        <p:nvPicPr>
          <p:cNvPr descr="A screenshot of a computer&#10;&#10;AI-generated content may be incorrect." id="258" name="Google Shape;258;p2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3835" y="1464139"/>
            <a:ext cx="9249493" cy="4250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¿Qué es la producción Just In Time JIT?</a:t>
            </a:r>
            <a:endParaRPr/>
          </a:p>
        </p:txBody>
      </p:sp>
      <p:sp>
        <p:nvSpPr>
          <p:cNvPr id="264" name="Google Shape;264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Sistema de producción de origen japonés (Toyota).</a:t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Se fabrica justo lo que se necesita, en el momento justo</a:t>
            </a:r>
            <a:r>
              <a:rPr lang="en-US" sz="3200"/>
              <a:t>.</a:t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Objetivo: evitar stock, reducir desperdicios y aumentar eficiencia.</a:t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Beneficio: mejora el flujo de materiales y reduce costes.</a:t>
            </a:r>
            <a:endParaRPr sz="32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¿Cómo ayudan THD al modelo JIT?</a:t>
            </a:r>
            <a:endParaRPr/>
          </a:p>
        </p:txBody>
      </p:sp>
      <p:pic>
        <p:nvPicPr>
          <p:cNvPr descr="A screenshot of a computer&#10;&#10;AI-generated content may be incorrect." id="270" name="Google Shape;270;p3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1355" y="2049209"/>
            <a:ext cx="8370497" cy="3789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¿Qué es el ecodiseño?</a:t>
            </a:r>
            <a:endParaRPr/>
          </a:p>
        </p:txBody>
      </p:sp>
      <p:sp>
        <p:nvSpPr>
          <p:cNvPr id="276" name="Google Shape;276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Es diseñar productos pensando desde el inicio en:</a:t>
            </a:r>
            <a:endParaRPr sz="32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Usar materiales sostenibles.</a:t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Facilitar la reparación y el reciclaje.</a:t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Minimizar el consumo de recursos y energía.</a:t>
            </a:r>
            <a:endParaRPr sz="28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b="1" lang="en-US" sz="4000"/>
              <a:t>THD en el diseño y ciclo de vida del producto</a:t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Impresión 3D</a:t>
            </a:r>
            <a:r>
              <a:rPr lang="en-US"/>
              <a:t> → prototipos rápidos y personalizados.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RA/RV</a:t>
            </a:r>
            <a:r>
              <a:rPr lang="en-US"/>
              <a:t> → simulan el diseño antes de fabricarlo.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Blockchain</a:t>
            </a:r>
            <a:r>
              <a:rPr lang="en-US"/>
              <a:t> → trazabilidad de materiales y versiones.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Gemelos digitales</a:t>
            </a:r>
            <a:r>
              <a:rPr lang="en-US"/>
              <a:t> → simulan funcionamiento y desgaste.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IA + Big Data</a:t>
            </a:r>
            <a:r>
              <a:rPr lang="en-US"/>
              <a:t> → optimizan diseño según datos reales.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Fases del proceso de diseño Industrial</a:t>
            </a:r>
            <a:endParaRPr/>
          </a:p>
        </p:txBody>
      </p:sp>
      <p:sp>
        <p:nvSpPr>
          <p:cNvPr id="288" name="Google Shape;288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Definición estratégica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Diseño del concepto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Diseño de detalles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Oficina técnica e ingeniería de producto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Producción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Mercado / Reciclaje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Ciclo de vida de un producto</a:t>
            </a:r>
            <a:endParaRPr/>
          </a:p>
        </p:txBody>
      </p:sp>
      <p:sp>
        <p:nvSpPr>
          <p:cNvPr id="294" name="Google Shape;294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Extracción de materias primas</a:t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Fabricación</a:t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Embalaje y transporte</a:t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Uso y mantenimiento</a:t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 sz="3200"/>
              <a:t>Reciclaje o desecho final</a:t>
            </a:r>
            <a:endParaRPr sz="32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¿Qué nos implica?</a:t>
            </a:r>
            <a:endParaRPr/>
          </a:p>
        </p:txBody>
      </p:sp>
      <p:sp>
        <p:nvSpPr>
          <p:cNvPr id="300" name="Google Shape;300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Puedes trabajar en apps que: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Controlen procesos de producción en tiempo real.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Simulen prototipos con RV o RA.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Usen Big Data para ajustar demanda y diseño.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Gestionen trazabilidad de productos con blockchain.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b="1" lang="en-US" sz="4000"/>
              <a:t>¿Qué es una cadena de suministro sostenible?</a:t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306" name="Google Shape;306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Es el camino que sigue un producto </a:t>
            </a:r>
            <a:r>
              <a:rPr b="1" lang="en-US"/>
              <a:t>desde que se fabrica hasta que llega al cliente</a:t>
            </a:r>
            <a:r>
              <a:rPr lang="en-US"/>
              <a:t>, pero…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…hecho con </a:t>
            </a:r>
            <a:r>
              <a:rPr b="1" lang="en-US"/>
              <a:t>criterios sostenibles</a:t>
            </a:r>
            <a:r>
              <a:rPr lang="en-US"/>
              <a:t>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Uso responsable de materias primas.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Menor consumo energético.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Menos residuos.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Logística eficiente y trazable.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¿Cómo ayudan las THD a una cadena sostenible?</a:t>
            </a:r>
            <a:endParaRPr/>
          </a:p>
        </p:txBody>
      </p:sp>
      <p:pic>
        <p:nvPicPr>
          <p:cNvPr descr="A screenshot of a computer&#10;&#10;AI-generated content may be incorrect." id="312" name="Google Shape;312;p3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5757" y="1944321"/>
            <a:ext cx="8483180" cy="4174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lay"/>
              <a:buNone/>
            </a:pPr>
            <a:r>
              <a:rPr lang="en-US" sz="2800"/>
              <a:t>Tecnologías Habilitadoras Digitales Emergentes (THD emergentes)</a:t>
            </a:r>
            <a:endParaRPr sz="3600"/>
          </a:p>
        </p:txBody>
      </p:sp>
      <p:sp>
        <p:nvSpPr>
          <p:cNvPr id="318" name="Google Shape;318;p3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Son tecnologías </a:t>
            </a:r>
            <a:r>
              <a:rPr b="1" lang="en-US"/>
              <a:t>nuevas, avanzadas y en rápida evolución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Aún no están plenamente implantadas, pero ya están </a:t>
            </a:r>
            <a:r>
              <a:rPr b="1" lang="en-US"/>
              <a:t>revolucionando sectores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Tienen </a:t>
            </a:r>
            <a:r>
              <a:rPr b="1" lang="en-US"/>
              <a:t>un alto potencial de impacto económico, social y medioambiental</a:t>
            </a:r>
            <a:r>
              <a:rPr lang="en-US"/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0"/>
          <p:cNvSpPr txBox="1"/>
          <p:nvPr>
            <p:ph type="ctrTitle"/>
          </p:nvPr>
        </p:nvSpPr>
        <p:spPr>
          <a:xfrm>
            <a:off x="1524000" y="2977185"/>
            <a:ext cx="9144000" cy="8967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lang="en-US"/>
              <a:t>THD Emergentes​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Tipos de THD emergentes según la UE</a:t>
            </a:r>
            <a:endParaRPr/>
          </a:p>
        </p:txBody>
      </p:sp>
      <p:pic>
        <p:nvPicPr>
          <p:cNvPr descr="A screenshot of a computer&#10;&#10;AI-generated content may be incorrect." id="329" name="Google Shape;329;p4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253" y="2267744"/>
            <a:ext cx="8722236" cy="33492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Ejemplos reales por tecnología</a:t>
            </a:r>
            <a:endParaRPr/>
          </a:p>
        </p:txBody>
      </p:sp>
      <p:pic>
        <p:nvPicPr>
          <p:cNvPr descr="A screenshot of a computer&#10;&#10;AI-generated content may be incorrect." id="335" name="Google Shape;335;p4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9341" y="2302879"/>
            <a:ext cx="9380866" cy="3511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¿Porqué son importantes?</a:t>
            </a:r>
            <a:endParaRPr/>
          </a:p>
        </p:txBody>
      </p:sp>
      <p:sp>
        <p:nvSpPr>
          <p:cNvPr id="341" name="Google Shape;341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Cambiarán el trabajo técnico en los próximos 5-10 años.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Van a crear </a:t>
            </a:r>
            <a:r>
              <a:rPr b="1" lang="en-US"/>
              <a:t>nuevos empleos y especializaciones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Muchas se combinan con THD ya conocidas (IA, Big Data, IoT…).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Como desarrollador o técnico, estar actualizado será </a:t>
            </a:r>
            <a:r>
              <a:rPr b="1" lang="en-US"/>
              <a:t>una ventaja competitiva brutal</a:t>
            </a:r>
            <a:r>
              <a:rPr lang="en-US"/>
              <a:t>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¿Que es la fabricación avanzada?</a:t>
            </a:r>
            <a:endParaRPr/>
          </a:p>
        </p:txBody>
      </p:sp>
      <p:sp>
        <p:nvSpPr>
          <p:cNvPr id="347" name="Google Shape;347;p4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 </a:t>
            </a:r>
            <a:r>
              <a:rPr b="1" lang="en-US"/>
              <a:t>fabricación avanzada</a:t>
            </a:r>
            <a:r>
              <a:rPr lang="en-US"/>
              <a:t> es el uso de tecnologías digitales para: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Diseñar productos más complejos.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Personalizarlos de forma económica.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Fabricarlos de forma </a:t>
            </a:r>
            <a:r>
              <a:rPr b="1" lang="en-US"/>
              <a:t>más eficiente, sostenible y rápida</a:t>
            </a:r>
            <a:r>
              <a:rPr lang="en-US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 basa en 3 pilares fundamentales: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Impresión 3D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Robótica colaborativa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Fabricación digital (automatización + diseño generativo)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¿Qué aporta?</a:t>
            </a:r>
            <a:endParaRPr/>
          </a:p>
        </p:txBody>
      </p:sp>
      <p:sp>
        <p:nvSpPr>
          <p:cNvPr id="353" name="Google Shape;353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Reducción de costes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Mayor flexibilidad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Diseños personalizados</a:t>
            </a:r>
            <a:r>
              <a:rPr lang="en-US"/>
              <a:t> (prototipado rápido)</a:t>
            </a:r>
            <a:endParaRPr/>
          </a:p>
          <a:p>
            <a:pPr indent="-457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Producción más sostenible</a:t>
            </a:r>
            <a:br>
              <a:rPr b="1" lang="en-US"/>
            </a:br>
            <a:r>
              <a:rPr b="1" lang="en-US"/>
              <a:t> Menos errores → más calidad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Ejemplos</a:t>
            </a:r>
            <a:endParaRPr/>
          </a:p>
        </p:txBody>
      </p:sp>
      <p:pic>
        <p:nvPicPr>
          <p:cNvPr descr="A screenshot of a computer&#10;&#10;AI-generated content may be incorrect." id="359" name="Google Shape;359;p4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246" y="2005182"/>
            <a:ext cx="10223480" cy="26636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2025-09-03T18:50:30Z</dcterms:created>
</cp:coreProperties>
</file>